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378" y="1459260"/>
            <a:ext cx="16692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AIFFELTHON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282696" y="2000250"/>
            <a:ext cx="65786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 주문 자동 수집 정형화 시스템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706170" y="2724150"/>
            <a:ext cx="37315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SMS/카카오톡 비정형 주문을 AI Agent로 자동화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87282" y="3497461"/>
            <a:ext cx="17694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Subscribe / 2025.12.23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6250" y="1968996"/>
            <a:ext cx="2476500" cy="1853208"/>
          </a:xfrm>
          <a:prstGeom prst="roundRect">
            <a:avLst>
              <a:gd name="adj" fmla="val 616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5300" y="1968996"/>
            <a:ext cx="0" cy="1853208"/>
          </a:xfrm>
          <a:prstGeom prst="line">
            <a:avLst/>
          </a:prstGeom>
          <a:noFill/>
          <a:ln w="381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950" y="2197596"/>
            <a:ext cx="1292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배경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2950" y="2654796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 및 필요성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42950" y="3037582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아이디어와 한계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42950" y="3420368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 도출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33750" y="1968996"/>
            <a:ext cx="2476500" cy="1853208"/>
          </a:xfrm>
          <a:prstGeom prst="roundRect">
            <a:avLst>
              <a:gd name="adj" fmla="val 616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52800" y="1968996"/>
            <a:ext cx="0" cy="1853208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0450" y="2197596"/>
            <a:ext cx="1292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프로젝트 개요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00450" y="2654796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600450" y="3037582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 (Agent, OCR)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600450" y="3420368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결과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91250" y="2160389"/>
            <a:ext cx="2476500" cy="1470422"/>
          </a:xfrm>
          <a:prstGeom prst="roundRect">
            <a:avLst>
              <a:gd name="adj" fmla="val 777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0300" y="2160389"/>
            <a:ext cx="0" cy="147042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7950" y="2388989"/>
            <a:ext cx="1020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마무리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7950" y="2846189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발전 방향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457950" y="3228975"/>
            <a:ext cx="20208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and A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2567" y="1592610"/>
            <a:ext cx="51871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08147" y="2537371"/>
            <a:ext cx="292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배경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10391" y="3299371"/>
            <a:ext cx="23232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 / 초기 아이디어 / 해결책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소상공인의 비정형 주문 처리 문제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1779240"/>
            <a:ext cx="4133850" cy="2373511"/>
          </a:xfrm>
          <a:prstGeom prst="roundRect">
            <a:avLst>
              <a:gd name="adj" fmla="val 481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4850" y="2007840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채널에서 쏟아지는 주문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850" y="2472630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SMS: 사장님 모자 2개 보내주세요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850" y="2861221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카톡: 주문합니다! 1번 3개요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3249811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DM: 오늘 배송 되나요? 급해요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850" y="3790801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20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/ 카카오톡 / Instagram DM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91100" y="1840260"/>
            <a:ext cx="3676650" cy="674340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10150" y="1840260"/>
            <a:ext cx="0" cy="67434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1600" y="1992660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소모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1600" y="2202210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수십~수백 건을 일일이 엑셀에 수기 입력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91100" y="2628900"/>
            <a:ext cx="3676650" cy="67434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10150" y="2628900"/>
            <a:ext cx="0" cy="67434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1600" y="2781300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실수 유발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81600" y="2990850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오타, 누락으로 인한 배송 오류 및 고객 불만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91100" y="3417540"/>
            <a:ext cx="3676650" cy="674340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10150" y="3417540"/>
            <a:ext cx="0" cy="67434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1600" y="3569940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 한계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1600" y="3779490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주문량 증가 시 인력 추가 필요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아이디어와 한계점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1949946"/>
            <a:ext cx="3636764" cy="2032248"/>
          </a:xfrm>
          <a:prstGeom prst="roundRect">
            <a:avLst>
              <a:gd name="adj" fmla="val 562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2188071"/>
            <a:ext cx="32237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아이디어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4375" y="2690961"/>
            <a:ext cx="3223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SMS 메시지 자동 수신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14375" y="3130897"/>
            <a:ext cx="3223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AI가 주문 정보 파싱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14375" y="3570833"/>
            <a:ext cx="3223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판매자 DB에 저장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98764" y="1497360"/>
            <a:ext cx="4268986" cy="2937272"/>
          </a:xfrm>
          <a:prstGeom prst="roundRect">
            <a:avLst>
              <a:gd name="adj" fmla="val 389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6889" y="1735485"/>
            <a:ext cx="38685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단계의 치명적 한계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36889" y="2238375"/>
            <a:ext cx="3792736" cy="613321"/>
          </a:xfrm>
          <a:prstGeom prst="roundRect">
            <a:avLst>
              <a:gd name="adj" fmla="val 12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0239" y="2371725"/>
            <a:ext cx="359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70239" y="2571750"/>
            <a:ext cx="35965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단축어 앱을 통한 복잡한 자동화 설정 필요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36889" y="3118396"/>
            <a:ext cx="3792736" cy="613321"/>
          </a:xfrm>
          <a:prstGeom prst="roundRect">
            <a:avLst>
              <a:gd name="adj" fmla="val 12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70239" y="3251746"/>
            <a:ext cx="359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70239" y="3451771"/>
            <a:ext cx="35965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앱 설치 필수로 보안 우려 발생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98962" y="4036516"/>
            <a:ext cx="38685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 진입 장벽이 너무 높음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5771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해결책: 카카오 비즈니스 채널 + Multi-turn 챗봇</a:t>
            </a:r>
            <a:endParaRPr lang="en-US" sz="2100" dirty="0"/>
          </a:p>
        </p:txBody>
      </p:sp>
      <p:pic>
        <p:nvPicPr>
          <p:cNvPr id="4" name="Image 0" descr="/tmp/rasterized-gradient-df173f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232" y="1791742"/>
            <a:ext cx="1735782" cy="1565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56428" y="20774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11685" y="2534692"/>
            <a:ext cx="6667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국민 메신저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2767925" y="2898428"/>
            <a:ext cx="9543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설치 불필요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494014" y="2387947"/>
            <a:ext cx="1589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100" dirty="0"/>
          </a:p>
        </p:txBody>
      </p:sp>
      <p:pic>
        <p:nvPicPr>
          <p:cNvPr id="9" name="Image 1" descr="/tmp/rasterized-gradient-2d91bf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837" y="1791742"/>
            <a:ext cx="1735782" cy="15656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80168" y="2077492"/>
            <a:ext cx="636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91664" y="2534692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대화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5421530" y="2898428"/>
            <a:ext cx="9543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정보 수집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476250" y="4417814"/>
            <a:ext cx="1933575" cy="439936"/>
          </a:xfrm>
          <a:prstGeom prst="roundRect">
            <a:avLst>
              <a:gd name="adj" fmla="val 1732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92931" y="4551164"/>
            <a:ext cx="17002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접근성 향상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2562225" y="4417814"/>
            <a:ext cx="1933575" cy="439936"/>
          </a:xfrm>
          <a:prstGeom prst="roundRect">
            <a:avLst>
              <a:gd name="adj" fmla="val 17321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78906" y="4551164"/>
            <a:ext cx="17002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수집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4648200" y="4417814"/>
            <a:ext cx="1933575" cy="439936"/>
          </a:xfrm>
          <a:prstGeom prst="roundRect">
            <a:avLst>
              <a:gd name="adj" fmla="val 17321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64881" y="4551164"/>
            <a:ext cx="17002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강화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734175" y="4417814"/>
            <a:ext cx="1933575" cy="439936"/>
          </a:xfrm>
          <a:prstGeom prst="roundRect">
            <a:avLst>
              <a:gd name="adj" fmla="val 1732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850856" y="4551164"/>
            <a:ext cx="17002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도입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2567" y="1592610"/>
            <a:ext cx="51871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08147" y="2537371"/>
            <a:ext cx="292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11680" y="3299371"/>
            <a:ext cx="27204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 / 주요 기능 / 실험 결과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7314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판매자 가이드 기반 비정형 → 정형 변환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595438"/>
            <a:ext cx="1420564" cy="1952625"/>
          </a:xfrm>
          <a:prstGeom prst="roundRect">
            <a:avLst>
              <a:gd name="adj" fmla="val 8046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747838"/>
            <a:ext cx="1138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판매자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8650" y="2157413"/>
            <a:ext cx="1138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상품: 수분크림 50ml 32,000원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8650" y="2614613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옵션: 쿠션 21/23/25호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8650" y="2938463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배송: 2시 이전 당일발송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8650" y="3262313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선물포장 +2,000원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09656" y="2411760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8814" y="1662113"/>
            <a:ext cx="1420564" cy="1819275"/>
          </a:xfrm>
          <a:prstGeom prst="roundRect">
            <a:avLst>
              <a:gd name="adj" fmla="val 8046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11214" y="1814513"/>
            <a:ext cx="1138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비정형 주문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1214" y="222408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"수분크림이랑 쿠션 23호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11214" y="254793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주문할게요 김미영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11214" y="287178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010-1234-5678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11214" y="319563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선물포장해주세요"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43793" y="24117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1379" y="1824038"/>
            <a:ext cx="1643807" cy="1495425"/>
          </a:xfrm>
          <a:prstGeom prst="roundRect">
            <a:avLst>
              <a:gd name="adj" fmla="val 7643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3779" y="1976438"/>
            <a:ext cx="13657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 처리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93779" y="2386013"/>
            <a:ext cx="1365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1차: 가이드 참조 파싱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93779" y="2709863"/>
            <a:ext cx="1365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감지: 용량? 주소?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93779" y="3033713"/>
            <a:ext cx="1365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2차: Multi-turn 보완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49600" y="24117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47186" y="1662113"/>
            <a:ext cx="1420564" cy="1819275"/>
          </a:xfrm>
          <a:prstGeom prst="roundRect">
            <a:avLst>
              <a:gd name="adj" fmla="val 8046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99586" y="1814513"/>
            <a:ext cx="1138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정형 주문서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9586" y="222408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수분크림50ml: 32,000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399586" y="254793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쿠션23호: 35,000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99586" y="287178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선물포장: 2,000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99586" y="3195638"/>
            <a:ext cx="113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합계: 69,000원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6250" y="4450110"/>
            <a:ext cx="8191500" cy="426690"/>
          </a:xfrm>
          <a:prstGeom prst="roundRect">
            <a:avLst>
              <a:gd name="adj" fmla="val 2232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0110" y="4583460"/>
            <a:ext cx="73837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일반 챗봇과의 차이: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판매자별 상품/가격/옵션/정책을 참조하여 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텍스트를 정확한 주문 데이터로 변환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187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 요청: 누락 정보를 대화로 수집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170533"/>
            <a:ext cx="5282505" cy="3571875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322933"/>
            <a:ext cx="50772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실제 대화 흐름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173250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180870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수분크림이랑 쿠션 23호 주문할게요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8650" y="224685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2950" y="232305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수분크림 50ml(32,000원)와 100ml(55,000원) 중 어느 용량으로 드릴까요?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8650" y="276120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2950" y="283740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50ml로요. 선물포장도 부탁드려요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8650" y="327555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335175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선물포장 추가(+2,000원). 성함, 연락처, 배송지 알려주세요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28650" y="378990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2950" y="386610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김미영 010-1234-5678 서울 강남구 테헤란로 123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8650" y="4304258"/>
            <a:ext cx="4977705" cy="285750"/>
          </a:xfrm>
          <a:prstGeom prst="roundRect">
            <a:avLst>
              <a:gd name="adj" fmla="val 2666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2950" y="4380458"/>
            <a:ext cx="4844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주문확정! 수분크림50ml+쿠션23호+선물포장 = 69,000원 (무료배송)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87355" y="1341983"/>
            <a:ext cx="2680395" cy="1000125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39755" y="1494383"/>
            <a:ext cx="2423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1차: 비정형 파싱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39755" y="171345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 매칭 (가이드 참조)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39755" y="188490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자동 계산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39755" y="205635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옵션/정책 검증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87355" y="2456408"/>
            <a:ext cx="2680395" cy="1000125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9755" y="2608808"/>
            <a:ext cx="2423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2차: Multi-turn 보완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39755" y="2827883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필드 자동 감지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39755" y="2999333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자연스러운 질문 생성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39755" y="3170783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문의 대응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87355" y="3570833"/>
            <a:ext cx="2680395" cy="1000125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39755" y="3723233"/>
            <a:ext cx="2423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결과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139755" y="394230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최소화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39755" y="411375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만족도 향상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39755" y="4285208"/>
            <a:ext cx="2423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 검증 후 발주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COST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187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비용 비교: 전용 모델 vs LLM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83097"/>
            <a:ext cx="1914525" cy="2584996"/>
          </a:xfrm>
          <a:prstGeom prst="roundRect">
            <a:avLst>
              <a:gd name="adj" fmla="val 5970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750" y="1873597"/>
            <a:ext cx="1564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OCR 6.7GB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6750" y="23002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Model Garden 배포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6750" y="26431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 L4 (G2 시리즈)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6750" y="3043238"/>
            <a:ext cx="1533525" cy="66675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8001" y="3157538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비용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8001" y="3328988"/>
            <a:ext cx="13310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694,863원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750" y="3957638"/>
            <a:ext cx="15641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상시 가동 필요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581275" y="1683097"/>
            <a:ext cx="1914525" cy="2584996"/>
          </a:xfrm>
          <a:prstGeom prst="roundRect">
            <a:avLst>
              <a:gd name="adj" fmla="val 5970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71775" y="1873597"/>
            <a:ext cx="1564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80GB (대형 모델)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71775" y="23002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고성능 OCR 모델 배포 시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71775" y="26431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A100 80GB GPU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71775" y="3043238"/>
            <a:ext cx="1533525" cy="66675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73026" y="3157538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비용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73026" y="3328988"/>
            <a:ext cx="13310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4,243,121원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71775" y="3957638"/>
            <a:ext cx="15641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소상공인에게 비현실적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86300" y="1683097"/>
            <a:ext cx="1914525" cy="2584996"/>
          </a:xfrm>
          <a:prstGeom prst="roundRect">
            <a:avLst>
              <a:gd name="adj" fmla="val 5970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6800" y="1873597"/>
            <a:ext cx="15641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6800" y="23002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 기반 (테스트 실비용)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76800" y="2643188"/>
            <a:ext cx="1564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인프라 불필요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76800" y="3043238"/>
            <a:ext cx="1533525" cy="66675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8051" y="3157538"/>
            <a:ext cx="1331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실비용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78051" y="3328988"/>
            <a:ext cx="13310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2,283원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76800" y="3957638"/>
            <a:ext cx="15641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사용량 기반 과금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791325" y="1817489"/>
            <a:ext cx="1876425" cy="2316212"/>
          </a:xfrm>
          <a:prstGeom prst="roundRect">
            <a:avLst>
              <a:gd name="adj" fmla="val 609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962775" y="1988939"/>
            <a:ext cx="156419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2775" y="2392710"/>
            <a:ext cx="15641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송금 확인서 OCR은 LLM으로 충분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62775" y="2979390"/>
            <a:ext cx="1533525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58025" y="3074640"/>
            <a:ext cx="1369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정확도: 100/100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058025" y="3246090"/>
            <a:ext cx="1369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절감: 99% 이상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62775" y="3722340"/>
            <a:ext cx="15641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정형화된 송금 UI는 LLM으로 충분히 인식 가능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333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정확도 실험 (100개 테스트 케이스)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036290"/>
            <a:ext cx="8191500" cy="3263354"/>
          </a:xfrm>
          <a:prstGeom prst="roundRect">
            <a:avLst>
              <a:gd name="adj" fmla="val 35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69640"/>
            <a:ext cx="7924800" cy="337096"/>
          </a:xfrm>
          <a:prstGeom prst="roundRect">
            <a:avLst>
              <a:gd name="adj" fmla="val 22605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264890"/>
            <a:ext cx="3133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조건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977298" y="1264890"/>
            <a:ext cx="970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90220" y="1264890"/>
            <a:ext cx="3357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오류 (오류 수)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1506736"/>
            <a:ext cx="7924800" cy="3542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1856184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1612404"/>
            <a:ext cx="3133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Verifier만 사용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77298" y="1592461"/>
            <a:ext cx="970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90220" y="1619101"/>
            <a:ext cx="3357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이름(4), item(3), 옵션(3), 희망사항(1)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9600" y="1860947"/>
            <a:ext cx="7924800" cy="35421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" y="2210395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1966615"/>
            <a:ext cx="3133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 + Retry (Verifier 미사용)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977298" y="1946672"/>
            <a:ext cx="970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090220" y="1973312"/>
            <a:ext cx="3357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이름(3), agent 오류(3), 희망사항(1)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09600" y="2215158"/>
            <a:ext cx="7924800" cy="3542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2564606"/>
            <a:ext cx="792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2320826"/>
            <a:ext cx="3133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+ Prompt Engineering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77298" y="2300883"/>
            <a:ext cx="970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090220" y="2327523"/>
            <a:ext cx="3357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이름(3), agent 오류(2), 옵션(1), item(1)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09600" y="2569369"/>
            <a:ext cx="7924800" cy="409575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1050" y="2707481"/>
            <a:ext cx="31176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+ Prompt + Retry (최종)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80474" y="2674144"/>
            <a:ext cx="9648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088285" y="2714179"/>
            <a:ext cx="33401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이름(2), agent 오류(1), 테스트 구성(1)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76250" y="4432995"/>
            <a:ext cx="2667000" cy="481905"/>
          </a:xfrm>
          <a:prstGeom prst="roundRect">
            <a:avLst>
              <a:gd name="adj" fmla="val 1581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1500" y="452824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수 vs 정확도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1500" y="4699695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길어질수록 정확도 약간 감소 (7턴 이상: 0.83~0.93)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238500" y="4432995"/>
            <a:ext cx="2667000" cy="481905"/>
          </a:xfrm>
          <a:prstGeom prst="roundRect">
            <a:avLst>
              <a:gd name="adj" fmla="val 1581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33750" y="452824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수 vs 정확도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3750" y="4699695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수 증가해도 안정적 (1개: 1.0, 2개: 0.98, 3개: 0.86)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000750" y="4432995"/>
            <a:ext cx="2667000" cy="481905"/>
          </a:xfrm>
          <a:prstGeom prst="roundRect">
            <a:avLst>
              <a:gd name="adj" fmla="val 15812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96000" y="4528245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개선점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96000" y="4699695"/>
            <a:ext cx="25260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입금자명 != 주문자명 케이스 처리 로직 추가 필요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9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2567" y="1592610"/>
            <a:ext cx="51871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72484" y="2537371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마무리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16734" y="3299371"/>
            <a:ext cx="17103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발전 방향 / Q and 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6670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6250" y="502890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발전 방향</a:t>
            </a:r>
            <a:endParaRPr lang="en-US" sz="2100" dirty="0"/>
          </a:p>
        </p:txBody>
      </p:sp>
      <p:pic>
        <p:nvPicPr>
          <p:cNvPr id="4" name="Image 0" descr="/tmp/rasterized-gradient-36bca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35634"/>
            <a:ext cx="1905000" cy="24608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945184"/>
            <a:ext cx="1515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다양한 채널 확장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5800" y="237187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(현재)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685800" y="2728020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85800" y="3084165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DM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85800" y="34403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Messenger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685800" y="3853607"/>
            <a:ext cx="1515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Agent 통합 지원</a:t>
            </a:r>
            <a:endParaRPr lang="en-US" sz="750" dirty="0"/>
          </a:p>
        </p:txBody>
      </p:sp>
      <p:pic>
        <p:nvPicPr>
          <p:cNvPr id="11" name="Image 1" descr="/tmp/rasterized-gradient-8ca4b8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913632"/>
            <a:ext cx="1905000" cy="21047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1300" y="2123182"/>
            <a:ext cx="1515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SQL 데이터베이스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781300" y="254987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Excel에서 SQL DB로 전환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2781300" y="2906018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판매자별 체계적 관리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2781300" y="326216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주문/고객/결제 통합 조회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2781300" y="3675459"/>
            <a:ext cx="1515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확장성과 안정성 확보</a:t>
            </a:r>
            <a:endParaRPr lang="en-US" sz="750" dirty="0"/>
          </a:p>
        </p:txBody>
      </p:sp>
      <p:pic>
        <p:nvPicPr>
          <p:cNvPr id="17" name="Image 2" descr="/tmp/rasterized-gradient-db61a2f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913632"/>
            <a:ext cx="1905000" cy="21047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76800" y="2123182"/>
            <a:ext cx="1515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비즈니스 인사이트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876800" y="254987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통계 대시보드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4876800" y="2906018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단골 고객 분석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4876800" y="326216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연동 알림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4876800" y="3675459"/>
            <a:ext cx="1515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의사결정</a:t>
            </a:r>
            <a:endParaRPr lang="en-US" sz="750" dirty="0"/>
          </a:p>
        </p:txBody>
      </p:sp>
      <p:pic>
        <p:nvPicPr>
          <p:cNvPr id="23" name="Image 3" descr="/tmp/rasterized-gradient-19da03e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1913632"/>
            <a:ext cx="1905000" cy="210472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2300" y="2123182"/>
            <a:ext cx="1515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모바일 직접 연결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972300" y="254987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SMS 직접 연동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972300" y="2906018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네이티브 앱 통합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6972300" y="326216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검토 후 구현 예정</a:t>
            </a:r>
            <a:endParaRPr lang="en-US" sz="825" dirty="0"/>
          </a:p>
        </p:txBody>
      </p:sp>
      <p:sp>
        <p:nvSpPr>
          <p:cNvPr id="28" name="Text 22"/>
          <p:cNvSpPr/>
          <p:nvPr/>
        </p:nvSpPr>
        <p:spPr>
          <a:xfrm>
            <a:off x="6972300" y="3675459"/>
            <a:ext cx="15156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900"/>
              </a:spcBef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 확인 및 개발 계획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9122" y="1480245"/>
            <a:ext cx="20656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and 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386559" y="2318445"/>
            <a:ext cx="23707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있으시면 말씀해주세요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161519" y="3091755"/>
            <a:ext cx="68691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61519" y="3503116"/>
            <a:ext cx="686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정확도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15878" y="3091755"/>
            <a:ext cx="6958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215878" y="3503116"/>
            <a:ext cx="69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정확도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79032" y="3091755"/>
            <a:ext cx="703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99%+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79032" y="3503116"/>
            <a:ext cx="7034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0106" y="612577"/>
            <a:ext cx="23037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650090" y="1298377"/>
            <a:ext cx="1843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발표를 들어주셔서 감사합니다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250" y="1827907"/>
            <a:ext cx="8191500" cy="2295376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7507" y="2056507"/>
            <a:ext cx="7888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Subscribe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3450" y="2368897"/>
            <a:ext cx="1333500" cy="152578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71600" y="253082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54468" y="262607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0748" y="3235672"/>
            <a:ext cx="378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박정훈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43763" y="3599408"/>
            <a:ext cx="712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19350" y="2368897"/>
            <a:ext cx="1333500" cy="152578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7500" y="253082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03368" y="2639467"/>
            <a:ext cx="1653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96648" y="3235672"/>
            <a:ext cx="378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구재현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781124" y="359940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개발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05250" y="2368897"/>
            <a:ext cx="1333500" cy="152578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43400" y="253082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16402" y="2652713"/>
            <a:ext cx="3110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2548" y="3235672"/>
            <a:ext cx="378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최원진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267024" y="359940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구현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91150" y="2368897"/>
            <a:ext cx="1333500" cy="152578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29300" y="253082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02302" y="2652713"/>
            <a:ext cx="3110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68448" y="3235672"/>
            <a:ext cx="378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안선모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752924" y="3599408"/>
            <a:ext cx="609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구현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77050" y="2368897"/>
            <a:ext cx="1333500" cy="152578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15200" y="253082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72414" y="2666107"/>
            <a:ext cx="34262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54348" y="3235672"/>
            <a:ext cx="378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최미령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7287402" y="3599408"/>
            <a:ext cx="512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증강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4335" y="4466183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AIFFELTHON 2025 / 문자 주문 자동 수집 정형화 시스템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문자 주문 자동 수집·정형화 시스템</dc:title>
  <dc:subject>Mini AIFFELTHON 2025</dc:subject>
  <dc:creator>Team Subscribe</dc:creator>
  <cp:lastModifiedBy>Team Subscribe</cp:lastModifiedBy>
  <cp:revision>1</cp:revision>
  <dcterms:created xsi:type="dcterms:W3CDTF">2025-12-23T01:09:29Z</dcterms:created>
  <dcterms:modified xsi:type="dcterms:W3CDTF">2025-12-23T01:09:29Z</dcterms:modified>
</cp:coreProperties>
</file>